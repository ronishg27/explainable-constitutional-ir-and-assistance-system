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48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BSc. CSIT Final Year Project — Mid Defense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Constitutional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Assistance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3474720"/>
            <a:ext cx="14630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611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Nayan Nepal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Ronish Ghimire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Devraj Khatiwada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4074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Manoj Pokharel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Samriddhi College, TU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is needed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577072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39319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3931920" cy="347472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Nepal's constitution is inaccessible to most citizens due to its complex legal language.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keyword searches fail because legal meaning depends on how words appear together — not just whether they appear.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provides explainability — users don't know why certain results are retrieved.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170432"/>
            <a:ext cx="43891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170432"/>
            <a:ext cx="43891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0288" y="11887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0288" y="1572768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user-friendly system for searching constitutional information via natural language queries.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accurate retrieval using NLP, Inverted Indexing, and the BM25 algorithm.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Proximity Scoring Model for phrase-aware, precise retrieval.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explainability — show users why each result was ranked highly.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generate plain-language answers using Retrieval-Augmented Generation (RAG).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 of the components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577072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1261872" cy="9144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721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" y="18013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keyword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17904" y="1874520"/>
            <a:ext cx="54864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2768" y="1417320"/>
            <a:ext cx="126187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72768" y="14721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18013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• Lemmatize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34640" y="1874520"/>
            <a:ext cx="54864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89504" y="1417320"/>
            <a:ext cx="1261872" cy="9144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9504" y="14721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Index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89504" y="18013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TF-Index (BM25)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Index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51376" y="1874520"/>
            <a:ext cx="54864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0" y="1417320"/>
            <a:ext cx="126187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14721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06240" y="18013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Proximity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Title Boost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68112" y="1874520"/>
            <a:ext cx="54864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22976" y="1417320"/>
            <a:ext cx="1261872" cy="9144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22976" y="14721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Module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22976" y="18013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84848" y="1874520"/>
            <a:ext cx="54864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39712" y="1417320"/>
            <a:ext cx="126187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39712" y="14721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39712" y="18013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•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25786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2880360"/>
            <a:ext cx="1645920" cy="1755648"/>
          </a:xfrm>
          <a:prstGeom prst="rect">
            <a:avLst/>
          </a:prstGeom>
          <a:solidFill>
            <a:srgbClr val="F4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2880360"/>
            <a:ext cx="1645920" cy="27432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2898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" y="3227832"/>
            <a:ext cx="1645920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+ Flask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48256" y="2880360"/>
            <a:ext cx="1645920" cy="1755648"/>
          </a:xfrm>
          <a:prstGeom prst="rect">
            <a:avLst/>
          </a:prstGeom>
          <a:solidFill>
            <a:srgbClr val="F4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48256" y="2880360"/>
            <a:ext cx="1645920" cy="27432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48256" y="2898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48256" y="3227832"/>
            <a:ext cx="1645920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 + Tailwind CSS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49040" y="2880360"/>
            <a:ext cx="1645920" cy="1755648"/>
          </a:xfrm>
          <a:prstGeom prst="rect">
            <a:avLst/>
          </a:prstGeom>
          <a:solidFill>
            <a:srgbClr val="F4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749040" y="2880360"/>
            <a:ext cx="1645920" cy="27432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749040" y="2898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49040" y="3227832"/>
            <a:ext cx="1645920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49824" y="2880360"/>
            <a:ext cx="1645920" cy="1755648"/>
          </a:xfrm>
          <a:prstGeom prst="rect">
            <a:avLst/>
          </a:prstGeom>
          <a:solidFill>
            <a:srgbClr val="F4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449824" y="2880360"/>
            <a:ext cx="1645920" cy="27432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49824" y="2898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49824" y="3227832"/>
            <a:ext cx="1645920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50608" y="2852928"/>
            <a:ext cx="1645920" cy="1755648"/>
          </a:xfrm>
          <a:prstGeom prst="rect">
            <a:avLst/>
          </a:prstGeom>
          <a:solidFill>
            <a:srgbClr val="F4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150608" y="2880360"/>
            <a:ext cx="1645920" cy="27432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50608" y="2898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50608" y="3227832"/>
            <a:ext cx="1645920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with NLP-driven retrieval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577072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627632" cy="384048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164592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194560"/>
            <a:ext cx="1481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of Nepal (structured JSON) → Flatten into article/clause/sub-clause units → Tokenize, lowercase, lemmatize, remove stopwords (spaCy)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75104" y="118872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75104" y="1188720"/>
            <a:ext cx="1627632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75104" y="122529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29968" y="164592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Construction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48256" y="2194560"/>
            <a:ext cx="1481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TF-Index (word counts/doc) for BM25 scoring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Positional Index (exact token positions) for proximity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118872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75888" y="1188720"/>
            <a:ext cx="1627632" cy="384048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75888" y="122529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30752" y="164592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Ranking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49040" y="2194560"/>
            <a:ext cx="1481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scoring + Title-match boost (+5.0) + Proximity scoring → Combined final score to rank candidate documents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76672" y="118872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76672" y="1188720"/>
            <a:ext cx="1627632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76672" y="122529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31536" y="164592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Integration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9824" y="2194560"/>
            <a:ext cx="1481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articles → strict context prompt → Ollama (Llama 3) → plain-language grounded answer. Falls back to retrieval-only if LLM unavailable.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77456" y="1188720"/>
            <a:ext cx="1627632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77456" y="1188720"/>
            <a:ext cx="1627632" cy="384048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77456" y="122529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164592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50608" y="2194560"/>
            <a:ext cx="1481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constitutional test queries. Metrics: P@5, P@10, MAP, NDCG. Compare BM25-only vs BM25+Proximity.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Proximity Scoring + Title Boost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577072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3931920" cy="36210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3931920" cy="329184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(Best Matching 25)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documents by term frequency with document-length normalisation.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k₁ = 1.5  (term-frequency saturation)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0.75  (length normalisation)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 IDF(t) × TF-component(t,d)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downweights terms appearing in many documents (common words).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73736" y="1195544"/>
            <a:ext cx="4389120" cy="36210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43891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0288" y="1207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Scoring &amp; Final 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0288" y="1572768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Score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pair of query terms, find the minimum distance between occurrences in the document.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threshold: 30 words.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score = 1 / (minDist + 1)²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(distance 0 → 1.0 | distance 1 → 0.25 | distance 2 → 0.11)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Boost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 points if any query token appears in the article title.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BM25 + TitleBonus + (1.0 × ProximityScore)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LLM-powered plain-language answers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577072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54480" cy="9144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1874520"/>
            <a:ext cx="164592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57400" y="1417320"/>
            <a:ext cx="15544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5740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(BM25 + Proximity)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11880" y="1874520"/>
            <a:ext cx="164592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94760" y="1417320"/>
            <a:ext cx="1554480" cy="9144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9476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Articles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49240" y="1874520"/>
            <a:ext cx="164592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32120" y="1417320"/>
            <a:ext cx="15544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3212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Prompt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86600" y="1874520"/>
            <a:ext cx="164592" cy="0"/>
          </a:xfrm>
          <a:prstGeom prst="line">
            <a:avLst/>
          </a:prstGeom>
          <a:noFill/>
          <a:ln w="1905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69480" y="1417320"/>
            <a:ext cx="1554480" cy="9144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6948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(Llama 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0" y="2487168"/>
            <a:ext cx="54864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0" y="2496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Grounded strictly in retrieved constitutional 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926080"/>
            <a:ext cx="8503920" cy="329184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Ollama is unreachable, system gracefully falls back to retrieval-only mode with a clear notification to the user.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438144"/>
            <a:ext cx="2706624" cy="1417320"/>
          </a:xfrm>
          <a:prstGeom prst="rect">
            <a:avLst/>
          </a:prstGeom>
          <a:solidFill>
            <a:srgbClr val="F4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3438144"/>
            <a:ext cx="270662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" y="34564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" y="3785616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are strictly constrained to the retrieved articles — cannot fabricate information.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3438144"/>
            <a:ext cx="2706624" cy="1417320"/>
          </a:xfrm>
          <a:prstGeom prst="rect">
            <a:avLst/>
          </a:prstGeom>
          <a:solidFill>
            <a:srgbClr val="F4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08960" y="3438144"/>
            <a:ext cx="2706624" cy="292608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63824" y="34564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63824" y="3785616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citations to the exact constitutional article(s) used.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70448" y="3438144"/>
            <a:ext cx="2706624" cy="1417320"/>
          </a:xfrm>
          <a:prstGeom prst="rect">
            <a:avLst/>
          </a:prstGeom>
          <a:solidFill>
            <a:srgbClr val="F4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70448" y="3438144"/>
            <a:ext cx="270662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25312" y="345643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25312" y="3785616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Retrieval-only mode ensures the system works even without the LLM.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tools, and development details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577072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25296"/>
            <a:ext cx="205740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2057400" cy="329184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52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 (SPA)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responsive UI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with LLM toggle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cards with relevance scores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download support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225296"/>
            <a:ext cx="205740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225296"/>
            <a:ext cx="20574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252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627632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+ Flask (REST API)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/api/v1/ask, /auth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 (HTTP 400/500)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WSGI-ready (Gunicorn) for production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225296"/>
            <a:ext cx="205740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225296"/>
            <a:ext cx="2057400" cy="329184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252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627632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inverted TF-Index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Index (token positions)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scorer (k₁=1.5, b=0.75)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ProximityScorer (window=30 words)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pre-built offline for speed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1225296"/>
            <a:ext cx="205740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20840" y="1225296"/>
            <a:ext cx="20574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1252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627632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— tokenize, lemmatize, stopwords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legal-term dictionary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client (local Llama 3)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RAGWorkflow: retrieve → prompt → generate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retrieval if LLM offline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testing, system testing, and retrieval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577072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93776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Test Cases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554480"/>
          <a:ext cx="4754880" cy="31089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UT-01/02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Tokenization &amp; stopword removal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token list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UT-03/04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Lemmatization &amp; BM25 computation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forms, correct 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UT-05/06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Proximity &amp; title boost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proximity weight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ST-01/02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/ too-long query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400 error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query (retrieval only)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articles returned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query with LLM enabled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answer + articles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offline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fallback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440680" y="1207008"/>
            <a:ext cx="3410712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77840" y="1261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1600200"/>
            <a:ext cx="914400" cy="329184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7784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 / P@10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47104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5 and 10 results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77840" y="2112264"/>
            <a:ext cx="9144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7840" y="2139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R@5 / R@10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47104" y="2139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at top 5 and 10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77840" y="2624328"/>
            <a:ext cx="914400" cy="329184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7784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47104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 across 30 queries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577840" y="3136392"/>
            <a:ext cx="9144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77840" y="3163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547104" y="3163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relevance + position discount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3648456"/>
            <a:ext cx="914400" cy="329184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77840" y="3675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47104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answer grounded in retrieved text?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77840" y="4160520"/>
            <a:ext cx="9144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57784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47104" y="4187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stays live when LLM is offline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40680" y="4645152"/>
            <a:ext cx="3410712" cy="274320"/>
          </a:xfrm>
          <a:prstGeom prst="rect">
            <a:avLst/>
          </a:prstGeom>
          <a:solidFill>
            <a:srgbClr val="E8F8F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559552" y="4654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P@5: 0.75 – 0.85 (per legal IR literature)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28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&amp; Observations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before full test suite execution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577072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850392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Formal testing pending — observations from manual query inspection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737360"/>
            <a:ext cx="4206240" cy="14264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4206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75564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Query: "freedom of speech"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084832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Article 17 (Right to Freedom) — correct.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title boost both contribute to high score.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206240" cy="14264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206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36592" y="175564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Query: "right to education"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36592" y="2084832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Article 31 — correct.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scoring boosts rank for phrase match.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273552"/>
            <a:ext cx="4206240" cy="14264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3273552"/>
            <a:ext cx="4206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329184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RAG (LLM online)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0624" y="3621024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generates answer referencing correct article numbers, grounded in retrieved text.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273552"/>
            <a:ext cx="4206240" cy="142646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273552"/>
            <a:ext cx="4206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6592" y="329184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 offline fallback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36592" y="3621024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correctly falls back to retrieval-only and displays a clear warning message to the user.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4645152"/>
            <a:ext cx="8503920" cy="292608"/>
          </a:xfrm>
          <a:prstGeom prst="rect">
            <a:avLst/>
          </a:prstGeom>
          <a:solidFill>
            <a:srgbClr val="F4F8FA"/>
          </a:solidFill>
          <a:ln w="1270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654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(30 queries, P@5/MAP/NDCG) to be completed before final defense.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E8FAD"/>
          </a:solidFill>
          <a:ln w="12700">
            <a:solidFill>
              <a:srgbClr val="0E8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20116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658368"/>
            <a:ext cx="8412480" cy="0"/>
          </a:xfrm>
          <a:prstGeom prst="line">
            <a:avLst/>
          </a:prstGeom>
          <a:noFill/>
          <a:ln w="1524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3977640" cy="3584448"/>
          </a:xfrm>
          <a:prstGeom prst="rect">
            <a:avLst/>
          </a:prstGeom>
          <a:solidFill>
            <a:srgbClr val="112233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786384"/>
            <a:ext cx="3977640" cy="329184"/>
          </a:xfrm>
          <a:prstGeom prst="rect">
            <a:avLst/>
          </a:prstGeom>
          <a:solidFill>
            <a:srgbClr val="0B6E8A"/>
          </a:solidFill>
          <a:ln w="12700">
            <a:solidFill>
              <a:srgbClr val="0B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proximity-aware constitutional retrieval demonstrated.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Proximity + Title Boost significantly improves precision for legal phrasing.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module generates grounded, hallucination-free answers from retrieved articles.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remains fully available even when LLM is offline (graceful fallback).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constitutional literacy and legal accessibility in Nepal.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786384"/>
            <a:ext cx="4389120" cy="3584448"/>
          </a:xfrm>
          <a:prstGeom prst="rect">
            <a:avLst/>
          </a:prstGeom>
          <a:solidFill>
            <a:srgbClr val="112233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786384"/>
            <a:ext cx="43891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0288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Recommendations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0288" y="1170432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— Nepali &amp; regional languages.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to include Acts, Laws, and case studies.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for wider accessibility.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models for better query understanding.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dense retrieval (embedding-based) alongside BM25.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4572000"/>
            <a:ext cx="8942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Nayan Nepal  •  Ronish Ghimire  •  Devraj Khatiwada  |  Supervisor: Manoj Pokharel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1186</Words>
  <Application>Microsoft Office PowerPoint</Application>
  <PresentationFormat>On-screen Show (16:9)</PresentationFormat>
  <Paragraphs>222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Constitutional IR System</dc:title>
  <dc:subject>PptxGenJS Presentation</dc:subject>
  <dc:creator>PptxGenJS</dc:creator>
  <cp:lastModifiedBy>Ronish Ghimire</cp:lastModifiedBy>
  <cp:revision>2</cp:revision>
  <dcterms:created xsi:type="dcterms:W3CDTF">2026-05-04T16:50:31Z</dcterms:created>
  <dcterms:modified xsi:type="dcterms:W3CDTF">2026-05-04T17:05:29Z</dcterms:modified>
</cp:coreProperties>
</file>